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84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[INTRO]
Welcome students. Set the tone: this is not an API course and not a long lecture course. They will build something every session. Ask everyone to type one thing they think an AI system can do besides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[PROGRAM MAP]
Use this for the opening overview. Do not dwell. Emphasize progression: search before learning, scratch code before libraries, models before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[ONLINE NORMS]
ASK STUDENTS: What makes an online coding lesson boring? What should we avoid today? Put two answers in chat, then connect their answers to the rhythm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Poll: Is a maze solver AI if it does not learn? Options: yes, no, depends. Do not resolve fully yet; return to this in the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[LET STUDENTS PREDICT]
Ask students to privately sketch or type the information the robot needs. Expected: current location, walls, visited cells, path so far, possible next cells,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[QUICK RECAP]
Do a tiny prediction: From (2,3), what is the coordinate one step left? Have students answer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 answer: the last item, which is often the current cell if the list stores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[DEMO]
Show a tiny loop: A -&gt; B -&gt; A. Ask: What single memory prevents this loop? Expected: visited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[QUICK RECAP]
Connect to family-tree style arrows: if came_from[B] = A, then A is the parent of B in the discovered search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[CHECKPOINT]
Expected answer: no. If neighbors returns walls, the search loop becomes harder and more bug-prone.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Ask: What is the state if the robot also has a battery level? Expected: cell plus battery. This previews that modeling choices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[VISUAL EXPLANATION]
Emphasize: a graph is just a way to talk about choices. Students do not need formal graph algorithms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 answer: no solution was found, if the algorithm was correct and explored all reachable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[DATA STRUCTURE INTRO]
Make this physical: hold up a stack of sticky notes or ask students to imagine browser tabs piled on top. Then connect append/pop to newest-first.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[DATA STRUCTURE INTRO]
Clarify that deque is a Python tool that efficiently acts like a queue. Students do not need to master deque; they only need popleft and append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Expected: not always. It might dive into a long dead end. Good moment to explain that intelligent does not mean 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[ASK STUDENTS]
Expected: BFS. Use the phrase “wavefront from the start.”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[CHECKPOINT]
Expected: pop versus popleft, and the data structure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LIVE]
Students type with you. Keep pace slow. Ask: What is MAZE[1][1]? Expected: S. What is MAZE[0][0]? Expected: 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LIVE]
This is a quick Python recap of nested loops. Expected answer: return None, then the solver should fail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[PAUSE FOR EXERCISE]
Students answer in chat. For this walled maze, legal neighbors from (1,1) are (2,1) and (1,2).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Have students say the loop aloud. This reduces cognitive load before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LIVE]
Students can copy this skeleton but leave reconstruct_path for the lab. Stop and ask what each data structure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[CODE LIVE]
Point out exactly one conceptual change from DFS: queue behavior. Do not turn this into a deque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[LET STUDENTS PREDICT]
Collect answers visibly in chat or poll. After the run, compare evidence to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[PAUSE FOR EXERCISE]
Give 7-10 minutes. Students run DFS and BFS, fill table, then compare in breakout rooms.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[DEMO]
Temporarily comment out visited in a tiny controlled example or show pseudocode. Do not let the class get stuck in an infinite loop; use a max step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Students often think the path is automatically available. Explain that the search only knows current cells unless we store parent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[MATH CONNECTION]
Connect b to branching factor and d to depth. Avoid formal proof; use a quick calculator or mental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[CONCEPT]
Ask: Why not use straight-line distance in a maze? Expected: walls can block straight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[OPTIONAL]
Only implement A* if the group is moving quickly. The main objective is BFS/DFS and the concept of heuristic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[DEBUGGING GUIDANCE]
Encourage students to share one line of output, not just “it does not work.” Demonstrate printing frontier and visited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[WRAP-UP]
Return to the opening poll. Ask whether their answer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[EXIT TICKET]
Collect via chat, form, or notebook markdown cell. Use answers to decide whether to start next session with a mini-remediation on frontier/visited.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0DCF4-A88C-6E97-5555-297B696B231E}"/>
              </a:ext>
            </a:extLst>
          </p:cNvPr>
          <p:cNvSpPr txBox="1"/>
          <p:nvPr/>
        </p:nvSpPr>
        <p:spPr>
          <a:xfrm>
            <a:off x="3048000" y="3144307"/>
            <a:ext cx="60960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Fundamentals of AI Bootcamp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113981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12273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80ED"/>
                </a:solidFill>
              </a:rPr>
              <a:t>Intelligent Agents and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2352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Opening challenge: build a maze-solving AI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315968" y="30073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73168" y="30073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0368" y="30073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87568" y="30073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44768" y="30073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5968" y="34645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34645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30368" y="34645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87568" y="34645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44768" y="34645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15968" y="39217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39217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30368" y="39217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87568" y="39217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44768" y="39217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15968" y="43789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43789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0368" y="43789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87568" y="4378960"/>
            <a:ext cx="43891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44768" y="43789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15968" y="48361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48361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30368" y="48361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87568" y="48361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44768" y="4836160"/>
            <a:ext cx="438912" cy="43891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63040" y="565404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Predict -&gt; Code -&gt; Test -&gt; Explain -&gt; Improve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Bootcamp learning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81356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813560"/>
            <a:ext cx="109728" cy="12344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7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Search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4391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Solve problems by exploring possible actions.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1356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80560" y="1813560"/>
            <a:ext cx="10972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97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Learning from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34391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Fit parameters so predictions improve.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181356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813560"/>
            <a:ext cx="109728" cy="12344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197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Neurons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34391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Turn weighted sums into decisions.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3931920"/>
            <a:ext cx="109728" cy="1234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Neural networks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46227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Train layered systems with gradients.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393192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3931920"/>
            <a:ext cx="109728" cy="123444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Language models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446227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Predict tokens and connect to LLMs.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75320" y="393192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320" y="3931920"/>
            <a:ext cx="109728" cy="123444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0392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AI builder project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4462272"/>
            <a:ext cx="2926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Design, test, explain, and improve a 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sessions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9728" cy="1325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673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1. Predict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39112"/>
            <a:ext cx="22402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Commit in responding to chat or poll before seeing the answer.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5087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109728" cy="1325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03320" y="1673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2. 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039112"/>
            <a:ext cx="22402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Short live-coding bursts with checkpoints.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109728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673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3. Experiment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039112"/>
            <a:ext cx="22402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Run the system and compare strategies.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150876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0" y="1508760"/>
            <a:ext cx="109728" cy="1325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89720" y="1673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4. Explain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9720" y="2039112"/>
            <a:ext cx="22402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Use evidence: path length, explored cells, failure cases.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Participation norms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38587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70432" y="374904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Keep chat active when possible.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433425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70432" y="422452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Ask early when code behaves strangely.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480974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70432" y="470001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Wrong predictions are useful data.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big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How can a computer solve a problem intelligently without learning from examples?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A maze looks simple to us. For the computer, it needs a precise recipe for: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109728" cy="128016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Remembering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Where have I already been?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24028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109728" cy="1280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Choosing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Which possible move should I try next?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224028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01000" y="2240280"/>
            <a:ext cx="109728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404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Stopping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How do I know I reached the goal?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4069080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82312" y="4069080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75504" y="4069080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68696" y="4069080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61888" y="4069080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0" y="4462272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2312" y="4462272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75504" y="4462272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68696" y="4462272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61888" y="4462272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89120" y="4855464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82312" y="4855464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75504" y="4855464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68696" y="4855464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61888" y="4855464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9120" y="5248656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82312" y="5248656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175504" y="5248656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68696" y="5248656"/>
            <a:ext cx="374904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961888" y="5248656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389120" y="5641848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82312" y="5641848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75504" y="5641848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68696" y="5641848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61888" y="5641848"/>
            <a:ext cx="374904" cy="37490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88720" y="60167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This is AI even though no model is trained yet.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Challenge: escape the maze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First reason like the algorithm, then turn the reasoning into code.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05840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72768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39696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06624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07408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5840" y="2075688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72768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39696" y="2075688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06624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73552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07408" y="2075688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72768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39696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06624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73552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0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07408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5840" y="3209544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72768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39696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06624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73552" y="3209544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40480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7408" y="3209544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5840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572768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139696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06624" y="3776472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73552" y="3776472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40480" y="3776472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407408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72768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139696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06624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73552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40480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07408" y="434340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7784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Robot rules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5623560" y="221284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79592" y="21031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Starts at S. Goal is 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23560" y="268833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79592" y="25786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Can move up, down, left, or right.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23560" y="316382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79592" y="30540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Cannot move through walls.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23560" y="363931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79592" y="35295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Must not loop forever.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23560" y="411480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879592" y="40050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Should report the path it found.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23560" y="48463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F2994A"/>
          </a:solidFill>
          <a:ln>
            <a:solidFill>
              <a:srgbClr val="F2994A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178040" y="4882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What information must the robot remember?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recap: grid coordinates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maze cell is written as a pair: (row, column).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892040" cy="3474720"/>
          </a:xfrm>
          <a:prstGeom prst="roundRect">
            <a:avLst>
              <a:gd name="adj" fmla="val 131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618488"/>
            <a:ext cx="4562856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37960" y="1508760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04888" y="1508760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71816" y="1508760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38744" y="1508760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05672" y="1508760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04888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71816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38744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05672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37960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04888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71816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38744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(2,3)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05672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37960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04888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71816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38744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05672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Rows go down. Columns go right.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0" y="4754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B5757"/>
                </a:solidFill>
              </a:rPr>
              <a:t>Common bug: accidentally treating (row, col) as (x, y).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recap: 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list is an ordered sequence. In search, it can store a path or a stack.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983480" cy="2926080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618488"/>
            <a:ext cx="465429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4892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109728" cy="1325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Mental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5720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list is like a trail of footprints. Order matters, and the same item can appear more than once.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4892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109728" cy="1325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3410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Search 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776472"/>
            <a:ext cx="45720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Store a complete path, or use append/pop to make a stack for DFS.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51297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does path[-1] mean?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recap: 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set answers: have I seen this before?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83480" cy="2926080"/>
          </a:xfrm>
          <a:prstGeom prst="roundRect">
            <a:avLst>
              <a:gd name="adj" fmla="val 156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4654296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"skip it"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10972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673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Mental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39112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set is like a stamp collection. Either an item is inside or it is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88036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880360"/>
            <a:ext cx="109728" cy="114300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Why search needs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410712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Without a visited set, the robot can walk in circles forever.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25196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109728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Important detail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782312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Sets do not remember useful order. That is fine for visited cells.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recap: dictionary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dictionary maps one thing to another.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83480" cy="3017520"/>
          </a:xfrm>
          <a:prstGeom prst="roundRect">
            <a:avLst>
              <a:gd name="adj" fmla="val 151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4654296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10972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673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Mental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39112"/>
            <a:ext cx="45720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dictionary is a lookup table: key -&gt; 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109728" cy="1234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Search 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319272"/>
            <a:ext cx="45720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For each new cell, remember which cell led to it. Later, walk backward from G to 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4736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This is how the AI reconstructs the final path after finding the goal.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recap: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function packages a question we will ask repeatedly.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83480" cy="3108960"/>
          </a:xfrm>
          <a:prstGeom prst="roundRect">
            <a:avLst>
              <a:gd name="adj" fmla="val 147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4654296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is_open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"#"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 legal next cells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4983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109728" cy="13258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719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Why functions matter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084832"/>
            <a:ext cx="4663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Search repeats the same logic thousands of times. Functions make the logic testable.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49834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109728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3410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Test tiny 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776472"/>
            <a:ext cx="4663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Before solving a big maze, test one function on one cell.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4983480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27AE60"/>
          </a:solidFill>
          <a:ln>
            <a:solidFill>
              <a:srgbClr val="27AE60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CHECKPOINT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936992" y="50383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Can neighbors return a wall cell?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Vocabulary: state, action, 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AI starts by translating a real problem into a precise model.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109728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13055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What situation am I in?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Maze example: current cell (row, col).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109728" cy="14173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13055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What can I do next?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Maze example: move up, down, left, or right.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109728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130552"/>
            <a:ext cx="30632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What counts as success?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Maze example: current cell equals 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The computer cannot solve “escape the maze” until we define these precisely.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103120" y="481888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59152" y="470916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Bad model: “go toward the exit”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103120" y="529437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59152" y="518464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Better model: “from this cell, generate legal neighboring cells”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Vocabulary: graph, node, edge, neighbor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It is just a network of choices.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44168" y="1508760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65376" y="1508760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86584" y="1508760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7792" y="1508760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029968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44168" y="202996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65376" y="202996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86584" y="2029968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07792" y="2029968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2551176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44168" y="255117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65376" y="2551176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86584" y="2551176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07792" y="2551176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072384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44168" y="307238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65376" y="307238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86584" y="3072384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07792" y="3072384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3593592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44168" y="3593592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65376" y="3593592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386584" y="3593592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07792" y="3593592"/>
            <a:ext cx="502920" cy="50292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Maze view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784848" y="1847088"/>
            <a:ext cx="1188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73568" y="1847088"/>
            <a:ext cx="1188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62288" y="1847088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73568" y="3035808"/>
            <a:ext cx="1188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84848" y="3035808"/>
            <a:ext cx="11887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84848" y="1847088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973568" y="1847088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1645920"/>
            <a:ext cx="411480" cy="411480"/>
          </a:xfrm>
          <a:prstGeom prst="ellipse">
            <a:avLst/>
          </a:prstGeom>
          <a:solidFill>
            <a:srgbClr val="27AE60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1645920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61120" y="1645920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61120" y="2834640"/>
            <a:ext cx="411480" cy="411480"/>
          </a:xfrm>
          <a:prstGeom prst="ellipse">
            <a:avLst/>
          </a:prstGeom>
          <a:solidFill>
            <a:srgbClr val="F2994A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2834640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2834640"/>
            <a:ext cx="411480" cy="411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80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A43"/>
                </a:solidFill>
              </a:rPr>
              <a:t>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Graph view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3611880" y="4800600"/>
            <a:ext cx="4892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11880" y="4800600"/>
            <a:ext cx="109728" cy="9144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0" y="4965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Translation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840480" y="5330952"/>
            <a:ext cx="4572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Cell = node. Legal move = edge. Legal next cells = neighbors.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Vocabulary: frontier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The frontier is the waiting list of places discovered but not explored yet.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35024" y="1508760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47088" y="1508760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59152" y="1508760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71216" y="1508760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020824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35024" y="2020824"/>
            <a:ext cx="49377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47088" y="2020824"/>
            <a:ext cx="493776" cy="493776"/>
          </a:xfrm>
          <a:prstGeom prst="rect">
            <a:avLst/>
          </a:prstGeom>
          <a:solidFill>
            <a:srgbClr val="FFE8CC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59152" y="2020824"/>
            <a:ext cx="493776" cy="493776"/>
          </a:xfrm>
          <a:prstGeom prst="rect">
            <a:avLst/>
          </a:prstGeom>
          <a:solidFill>
            <a:srgbClr val="FFE8CC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71216" y="2020824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2532888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35024" y="2532888"/>
            <a:ext cx="493776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47088" y="2532888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59152" y="2532888"/>
            <a:ext cx="49377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71216" y="2532888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044952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35024" y="3044952"/>
            <a:ext cx="493776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47088" y="3044952"/>
            <a:ext cx="493776" cy="493776"/>
          </a:xfrm>
          <a:prstGeom prst="rect">
            <a:avLst/>
          </a:prstGeom>
          <a:solidFill>
            <a:srgbClr val="DBEAFE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59152" y="3044952"/>
            <a:ext cx="493776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71216" y="3044952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3557016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35024" y="3557016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47088" y="3557016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359152" y="3557016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71216" y="3557016"/>
            <a:ext cx="493776" cy="493776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05840" y="4297680"/>
            <a:ext cx="22860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visited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0" y="4297680"/>
            <a:ext cx="228600" cy="228600"/>
          </a:xfrm>
          <a:prstGeom prst="rect">
            <a:avLst/>
          </a:prstGeom>
          <a:solidFill>
            <a:srgbClr val="FFE8CC"/>
          </a:solidFill>
          <a:ln w="1270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08960" y="4279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frontier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52160" y="150876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52160" y="1508760"/>
            <a:ext cx="109728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Plain English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80760" y="2039112"/>
            <a:ext cx="48463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“I know these cells exist, but I have not checked their neighbors yet.”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52160" y="297180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52160" y="2971800"/>
            <a:ext cx="109728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80760" y="3136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Key choice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80760" y="3502152"/>
            <a:ext cx="48463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order we remove items from the frontier creates different search strategies.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852160" y="46634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27AE60"/>
          </a:solidFill>
          <a:ln>
            <a:solidFill>
              <a:srgbClr val="27AE60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06640" y="4718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What happens if the frontier becomes empty?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Stack: last in, first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stack behaves like a pile of plates. The newest item comes out first.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88720" y="4343400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2A43"/>
                </a:solidFill>
              </a:rPr>
              <a:t>oldest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3904488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3465576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026664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3291840" cy="347472"/>
          </a:xfrm>
          <a:prstGeom prst="roundRect">
            <a:avLst>
              <a:gd name="adj" fmla="val 10526"/>
            </a:avLst>
          </a:prstGeom>
          <a:solidFill>
            <a:srgbClr val="F2994A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2A43"/>
                </a:solidFill>
              </a:rPr>
              <a:t>newest item leaves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64592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33872" y="1801368"/>
            <a:ext cx="4745736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newest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4069080"/>
            <a:ext cx="50749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4069080"/>
            <a:ext cx="109728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4233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Search strategy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4599432"/>
            <a:ext cx="4754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Using a stack gives depth-first search: follow one branch deeply before coming back.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Queue: first in, first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queue behaves like a line at a cafe. The oldest item comes out first.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27AE60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56232" y="2331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60904" y="2331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65576" y="2331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70248" y="2331720"/>
            <a:ext cx="6583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3337560"/>
            <a:ext cx="411480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oldest leaves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1645920"/>
            <a:ext cx="5074920" cy="2148840"/>
          </a:xfrm>
          <a:prstGeom prst="roundRect">
            <a:avLst>
              <a:gd name="adj" fmla="val 212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3872" y="1801368"/>
            <a:ext cx="4745736" cy="1837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collections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deque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deque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oldest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4160520"/>
            <a:ext cx="50749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0" y="4160520"/>
            <a:ext cx="10972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97880" y="4325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Search strategy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4690872"/>
            <a:ext cx="47548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Using a queue gives breadth-first search: explore by distance from the start.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DFS: depth-first 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DFS uses a stack: newest discovered, first explored.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" cy="3337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Intuition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45720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Pick a path and keep going until stuck. Then backtrack and try another branch.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645920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645920"/>
            <a:ext cx="109728" cy="33375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Strengths and risks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176272"/>
            <a:ext cx="45720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Often simple and fast to code. But it may wander far away and does not guarantee the shortest path.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540410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Would DFS be good in a maze with many long dead ends?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BFS: breadth-first 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BFS uses a queue: oldest discovered, first explored.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645920"/>
            <a:ext cx="109728" cy="3337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Intuition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45720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Explore all cells 1 step away, then all cells 2 steps away, then all cells 3 steps away.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645920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645920"/>
            <a:ext cx="109728" cy="33375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Strengths and risks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176272"/>
            <a:ext cx="45720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Finds a shortest path when all moves cost the same. But it can use lots of memory.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534924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27AE60"/>
          </a:solidFill>
          <a:ln>
            <a:solidFill>
              <a:srgbClr val="27AE60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03320" y="54041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</a:rPr>
              <a:t>Which strategy explores more evenly: BFS or DFS?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vs queue: one line changes the behavior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The frontier order creates the algorithm.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618488"/>
            <a:ext cx="479145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 DFS: stack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newest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28232" y="1618488"/>
            <a:ext cx="479145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 BFS: queue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deque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oldest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931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Same problem. Same neighbors. Same visited set. Different frontier rule.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4946904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</a:rPr>
              <a:t>Which line of code makes BFS different from DFS?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code: represent the maze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303520" cy="3657600"/>
          </a:xfrm>
          <a:prstGeom prst="roundRect">
            <a:avLst>
              <a:gd name="adj" fmla="val 125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572768"/>
            <a:ext cx="4974336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"#####"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"#S..#"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"#.#G#"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"#...#"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"#####"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row, column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15087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0" y="15087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92440" y="15087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95360" y="15087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98280" y="15087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86600" y="201168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0116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20116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0116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86600" y="25146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89520" y="251460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92440" y="25146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251460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98280" y="25146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86600" y="30175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89520" y="301752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92440" y="301752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95360" y="301752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98280" y="30175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86600" y="35204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35204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92440" y="35204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95360" y="35204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98280" y="35204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92240" y="4892040"/>
            <a:ext cx="42976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2240" y="4892040"/>
            <a:ext cx="109728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0840" y="50566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Convention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20840" y="5422392"/>
            <a:ext cx="39776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maze[row][col] reads one character from the grid.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code: find start and goal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Before searching, the agent must know where it begins and where success is.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486400" cy="4114800"/>
          </a:xfrm>
          <a:prstGeom prst="roundRect">
            <a:avLst>
              <a:gd name="adj" fmla="val 111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572768"/>
            <a:ext cx="5157216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find_symbol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find_symbol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find_symbol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193852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18288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Nested loops scan every row and column.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12280" y="241401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68312" y="230428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Return a coordinate pair when the symbol is found.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12280" y="288950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68312" y="277977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If symbol is missing, return None.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457200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27AE60"/>
          </a:solidFill>
          <a:ln>
            <a:solidFill>
              <a:srgbClr val="27AE60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CHECK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09560" y="46268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What should happen if there is no G?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code: legal neighbors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The robot needs a function that returns possible next states.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669280" cy="4480560"/>
          </a:xfrm>
          <a:prstGeom prst="roundRect">
            <a:avLst>
              <a:gd name="adj" fmla="val 102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481328"/>
            <a:ext cx="5340096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candidates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"#"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45552" y="150876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75904" y="150876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06256" y="150876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36608" y="150876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2039112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45552" y="203911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03911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06256" y="203911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436608" y="2039112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256946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45552" y="2569464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75904" y="256946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06256" y="2569464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36608" y="256946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0" y="3099816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45552" y="309981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75904" y="309981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06256" y="309981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436608" y="3099816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0" y="363016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45552" y="363016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75904" y="363016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906256" y="363016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436608" y="363016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4709160"/>
            <a:ext cx="4343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0" y="4709160"/>
            <a:ext cx="109728" cy="8686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86600" y="4873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Mini challenge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86600" y="5239512"/>
            <a:ext cx="402336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For start = (1,1), which neighbors are legal?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search loop in plain English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This is the heart of the maze-solving AI.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5506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Put start in frontier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5506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Remove one cell from frontier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50876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21040" y="165506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If it is goal, stop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30098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Add legal unvisited neighbors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17720" y="3154680"/>
            <a:ext cx="502920" cy="5029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330098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Repeat until success or no frontier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The only difference between DFS and BFS is how step 2 chooses the next cell.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 code skeleton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6217920" cy="4754880"/>
          </a:xfrm>
          <a:prstGeom prst="roundRect">
            <a:avLst>
              <a:gd name="adj" fmla="val 96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481328"/>
            <a:ext cx="5888736" cy="4443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came_from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nxt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nxt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84708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62672" y="17373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frontier is a stack.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232257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62672" y="22128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visited prevents loops.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06640" y="279806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62672" y="26883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came_from saves the trail.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06640" y="327355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62672" y="3163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return None means no solution.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code skeleton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Same logic, different frontier behavior.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6355080" cy="4983480"/>
          </a:xfrm>
          <a:prstGeom prst="roundRect">
            <a:avLst>
              <a:gd name="adj" fmla="val 9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389888"/>
            <a:ext cx="6025896" cy="4672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collections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deque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bfs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deque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came_from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nxt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neighbors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nxt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frontier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20299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54112" y="192024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frontier is a queue.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250545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54112" y="239572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popleft means oldest first.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298094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54112" y="287121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BFS finds shortest paths if each move costs 1.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before running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53312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83664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14016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44368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05072" y="1417320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1947672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53312" y="194767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83664" y="194767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14016" y="194767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44368" y="194767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0" y="1947672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05072" y="1947672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247802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53312" y="247802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83664" y="247802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14016" y="2478024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44368" y="247802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2478024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2478024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3008376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53312" y="300837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83664" y="300837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14016" y="300837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44368" y="300837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474720" y="3008376"/>
            <a:ext cx="512064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05072" y="3008376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2960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353312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883664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414016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44368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474720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005072" y="3538728"/>
            <a:ext cx="512064" cy="512064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521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</a:rPr>
              <a:t>Answer these before running: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5989320" y="212140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45352" y="201168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Which strategy will find the shortest path?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89320" y="259689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45352" y="248716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Which strategy will explore fewer cells?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989320" y="307238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45352" y="296265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Can either strategy fail to terminate?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989320" y="354787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45352" y="34381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What would make the result different?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89320" y="489204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EB5757"/>
          </a:solidFill>
          <a:ln>
            <a:solidFill>
              <a:srgbClr val="EB5757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 NOT RUN YET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Evidence beats vibes.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286000" cy="566928"/>
          </a:xfrm>
          <a:prstGeom prst="rect">
            <a:avLst/>
          </a:prstGeom>
          <a:solidFill>
            <a:srgbClr val="E8EEF7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</a:rPr>
              <a:t>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2103120" cy="566928"/>
          </a:xfrm>
          <a:prstGeom prst="rect">
            <a:avLst/>
          </a:prstGeom>
          <a:solidFill>
            <a:srgbClr val="E8EEF7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Path length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600200"/>
            <a:ext cx="2286000" cy="566928"/>
          </a:xfrm>
          <a:prstGeom prst="rect">
            <a:avLst/>
          </a:prstGeom>
          <a:solidFill>
            <a:srgbClr val="E8EEF7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Explored cells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1600200"/>
            <a:ext cx="3566160" cy="566928"/>
          </a:xfrm>
          <a:prstGeom prst="rect">
            <a:avLst/>
          </a:prstGeom>
          <a:solidFill>
            <a:srgbClr val="E8EEF7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Observation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6712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DFS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167128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167128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2167128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73405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BFS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73405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734056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2734056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0098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Greedy heuristic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30098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3300984"/>
            <a:ext cx="2286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300984"/>
            <a:ext cx="3566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D0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visited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Remove one line and the robot may loop forever.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81328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48256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15184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1508760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075688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81328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48256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15184" y="2075688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2075688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81328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48256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15184" y="2642616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82112" y="2642616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3209544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81328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48256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15184" y="3209544"/>
            <a:ext cx="548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82112" y="3209544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14400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81328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48256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15184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82112" y="3776472"/>
            <a:ext cx="548640" cy="548640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15000" y="1645920"/>
            <a:ext cx="5120640" cy="20574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79592" y="1801368"/>
            <a:ext cx="4791456" cy="1746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 Dangerous idea: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# What if we do not remember visited cells?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406908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15000" y="4069080"/>
            <a:ext cx="109728" cy="105156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0" y="42336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Failure mode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4599432"/>
            <a:ext cx="48006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The agent may keep rediscovering the same states.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reconstruction with came_from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Finding G is not enough; we also need the route.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303520" cy="3657600"/>
          </a:xfrm>
          <a:prstGeom prst="roundRect">
            <a:avLst>
              <a:gd name="adj" fmla="val 125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1572768"/>
            <a:ext cx="4974336" cy="3346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came_from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8006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109728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Mental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130552"/>
            <a:ext cx="4480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Each cell stores a pointer to the cell that discovered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8006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2971800"/>
            <a:ext cx="109728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3136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Tiny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502152"/>
            <a:ext cx="4480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came_from[G] = B, came_from[B] = A, came_from[A] = S. Walk backward, then reverse.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Combinatorial explosion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Search can grow very fast.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937"/>
                </a:solidFill>
              </a:rPr>
              <a:t>If each state has about b choices and the solution is d moves deep: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2A43"/>
                </a:solidFill>
              </a:rPr>
              <a:t>1 + b + b^2 + b^3 + ... + b^d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97280" y="31546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109728" cy="10058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3319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685032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b = 3, d = 4 gives 121 states to consider.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1546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80560" y="3154680"/>
            <a:ext cx="109728" cy="1005840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3319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685032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Small rule changes can make easy problems become huge.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154680"/>
            <a:ext cx="32004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63840" y="3154680"/>
            <a:ext cx="10972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92440" y="3319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AI lesson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92440" y="3685032"/>
            <a:ext cx="2880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Intelligence often means searching smartly, not checking everything.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4983480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7B61FF"/>
          </a:solidFill>
          <a:ln>
            <a:solidFill>
              <a:srgbClr val="7B61FF"/>
            </a:solidFill>
          </a:ln>
          <a:effectLst>
            <a:outerShdw blurRad="12700" dist="7620" dir="2700000" algn="bl" rotWithShape="0">
              <a:srgbClr val="000000">
                <a:alpha val="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5038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happens if d doubles?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Heuristics: educated guesses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heuristic estimates which state looks promising.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983480" cy="22860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572768"/>
            <a:ext cx="4654296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manhattan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cell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goal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0" y="14173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14173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41080" y="141732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9202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192024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192024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41080" y="192024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4231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242316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24231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8160" y="242316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41080" y="242316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292608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0" y="29260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35240" y="29260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2926080"/>
            <a:ext cx="484632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41080" y="292608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34290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0" y="34290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35240" y="34290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38160" y="34290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641080" y="3429000"/>
            <a:ext cx="484632" cy="484632"/>
          </a:xfrm>
          <a:prstGeom prst="rect">
            <a:avLst/>
          </a:prstGeom>
          <a:solidFill>
            <a:srgbClr val="1F2937"/>
          </a:solidFill>
          <a:ln w="6350">
            <a:solidFill>
              <a:srgbClr val="B8C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5840" y="41605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Manhattan distance = vertical distance + horizontal distance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3886200" y="4892040"/>
            <a:ext cx="44348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886200" y="4892040"/>
            <a:ext cx="109728" cy="7772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0" y="5056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Caution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0" y="5422392"/>
            <a:ext cx="41148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 heuristic can be useful and still sometimes wrong.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intuition: cost so far plus estimated cost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A* combines what we know with what we guess.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A43"/>
                </a:solidFill>
              </a:rPr>
              <a:t>score = g + 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417320" y="260604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2606040"/>
            <a:ext cx="109728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3136392"/>
            <a:ext cx="2423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How many steps have I already taken?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60604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606040"/>
            <a:ext cx="109728" cy="10972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136392"/>
            <a:ext cx="2423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How far do I estimate remains?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260604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01000" y="2606040"/>
            <a:ext cx="109728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136392"/>
            <a:ext cx="2423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Which cell should I try next?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8920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We will treat A* as intuition, not a full implementation requirement.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Debugging search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Most bugs are not “AI bugs”; they are representation bugs.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57276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" y="14630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Print current cell each loop.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04825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70432" y="193852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Print frontier length and visited size.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52374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70432" y="241401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Check row/column order.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0432" y="288950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Mark visited when adding to frontier, not too late.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70432" y="336499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Confirm start and goal were found.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95020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384048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Test tiny mazes before big mazes.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did we build?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 search-based AI agent.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9728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It represents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3911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states, actions, goals, and legal moves.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109728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It remembers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03911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visited cells, frontier, and came_from links.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087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blurRad="12700" dist="889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1508760"/>
            <a:ext cx="109728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A43"/>
                </a:solidFill>
              </a:rPr>
              <a:t>It decides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039112"/>
            <a:ext cx="2926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which future state to explore next.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5757"/>
                </a:solidFill>
              </a:rPr>
              <a:t>Important: it does not learn from data yet.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3159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It is still AI because it acts intelligently by searching possible actions.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A"/>
                </a:solidFill>
              </a:rPr>
              <a:t>Answer individually before leaving.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88136"/>
            <a:ext cx="11155680" cy="0"/>
          </a:xfrm>
          <a:prstGeom prst="line">
            <a:avLst/>
          </a:prstGeom>
          <a:noFill/>
          <a:ln w="165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65105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69A"/>
                </a:solidFill>
              </a:rPr>
              <a:t>Fundamentals of AI Bootcamp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05840" y="1618488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150876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Is the maze solver learning? Why or why not?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2093976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1872" y="198424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What did the set remember?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2569464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1872" y="245973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What is the difference between a stack and a queue?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05840" y="304495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61872" y="293522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Why does BFS find a shortest path when every move costs 1?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05840" y="3520440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1872" y="341071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Name one failure mode of a heuristic.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Next: can a computer learn a rule from examples instead of being given the rule?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3991</Words>
  <Application>Microsoft Office PowerPoint</Application>
  <PresentationFormat>Widescreen</PresentationFormat>
  <Paragraphs>413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AI Bootcamp - Intelligent Agents and Search</dc:title>
  <dc:subject>Fundamentals of AI Bootcamp - Intelligent Agents and Search</dc:subject>
  <dc:creator>OpenAI</dc:creator>
  <cp:lastModifiedBy>Winner Admasu Abula</cp:lastModifiedBy>
  <cp:revision>2</cp:revision>
  <dcterms:created xsi:type="dcterms:W3CDTF">2026-08-08T04:24:05Z</dcterms:created>
  <dcterms:modified xsi:type="dcterms:W3CDTF">2026-08-08T07:36:46Z</dcterms:modified>
</cp:coreProperties>
</file>